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490796b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490796b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490796b8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490796b8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490796b8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490796b8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490796b8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490796b8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490796b8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490796b8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490796b8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490796b8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490796b8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490796b8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490796b8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c490796b8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490796b84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490796b84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BFS和queue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5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115/3/6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講師:167904呂宥丞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128375"/>
            <a:ext cx="8520600" cy="7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/>
              <a:t>queue</a:t>
            </a:r>
            <a:endParaRPr sz="320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與list列表不同，是採「先進先出」原則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4828" l="21649" r="23503" t="9716"/>
          <a:stretch/>
        </p:blipFill>
        <p:spPr>
          <a:xfrm>
            <a:off x="2577963" y="1671525"/>
            <a:ext cx="3988076" cy="303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248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3000"/>
              <a:t>舉例</a:t>
            </a:r>
            <a:endParaRPr sz="3000"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965950"/>
            <a:ext cx="8520600" cy="37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846"/>
              <a:buFont typeface="Arial"/>
              <a:buNone/>
            </a:pPr>
            <a:r>
              <a:rPr lang="zh-TW" sz="3250"/>
              <a:t>from collections import deque</a:t>
            </a:r>
            <a:endParaRPr sz="3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3846"/>
              <a:buFont typeface="Arial"/>
              <a:buNone/>
            </a:pPr>
            <a:r>
              <a:rPr lang="zh-TW" sz="3250"/>
              <a:t>queue = deque( )</a:t>
            </a:r>
            <a:endParaRPr sz="3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3846"/>
              <a:buFont typeface="Arial"/>
              <a:buNone/>
            </a:pPr>
            <a:r>
              <a:rPr lang="zh-TW" sz="3250"/>
              <a:t>queue.append("A") </a:t>
            </a:r>
            <a:endParaRPr sz="3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3846"/>
              <a:buFont typeface="Arial"/>
              <a:buNone/>
            </a:pPr>
            <a:r>
              <a:rPr lang="zh-TW" sz="3250"/>
              <a:t>queue.append("B")</a:t>
            </a:r>
            <a:endParaRPr sz="3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3846"/>
              <a:buFont typeface="Arial"/>
              <a:buNone/>
            </a:pPr>
            <a:r>
              <a:rPr lang="zh-TW" sz="3250"/>
              <a:t>queue.append("C")</a:t>
            </a:r>
            <a:endParaRPr sz="3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3250"/>
              <a:t>print(queue.popleft( ))  </a:t>
            </a:r>
            <a:r>
              <a:rPr lang="zh-TW" sz="3250">
                <a:solidFill>
                  <a:srgbClr val="0000FF"/>
                </a:solidFill>
              </a:rPr>
              <a:t># 輸</a:t>
            </a:r>
            <a:r>
              <a:rPr lang="zh-TW" sz="3250">
                <a:solidFill>
                  <a:srgbClr val="0000FF"/>
                </a:solidFill>
              </a:rPr>
              <a:t>出: "A" (最早添加的元素)</a:t>
            </a:r>
            <a:endParaRPr sz="325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3250"/>
              <a:t>print(queue)  </a:t>
            </a:r>
            <a:r>
              <a:rPr lang="zh-TW" sz="3250">
                <a:solidFill>
                  <a:srgbClr val="0000FF"/>
                </a:solidFill>
              </a:rPr>
              <a:t># 輸出: deque(["B", "C"])</a:t>
            </a:r>
            <a:endParaRPr sz="325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237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BFS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977350"/>
            <a:ext cx="8520600" cy="35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</a:t>
            </a:r>
            <a:r>
              <a:rPr lang="zh-TW"/>
              <a:t>FS是queue的一種應用，可以用來遍歷樹(如下圖)的每一個元素，並取得樹直徑或是樹上每個元素間的距離等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0000FF"/>
                </a:solidFill>
              </a:rPr>
              <a:t>A</a:t>
            </a:r>
            <a:endParaRPr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0000FF"/>
                </a:solidFill>
              </a:rPr>
              <a:t>/  \</a:t>
            </a:r>
            <a:endParaRPr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0000FF"/>
                </a:solidFill>
              </a:rPr>
              <a:t>B   C</a:t>
            </a:r>
            <a:endParaRPr>
              <a:solidFill>
                <a:srgbClr val="0000FF"/>
              </a:solidFill>
            </a:endParaRPr>
          </a:p>
          <a:p>
            <a:pPr indent="0" lvl="0" marL="36576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0000FF"/>
                </a:solidFill>
              </a:rPr>
              <a:t>   /   \     </a:t>
            </a:r>
            <a:endParaRPr>
              <a:solidFill>
                <a:srgbClr val="0000FF"/>
              </a:solidFill>
            </a:endParaRPr>
          </a:p>
          <a:p>
            <a:pPr indent="457200" lvl="0" marL="3200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rgbClr val="0000FF"/>
                </a:solidFill>
              </a:rPr>
              <a:t> D     E</a:t>
            </a:r>
            <a:r>
              <a:rPr lang="zh-TW"/>
              <a:t>	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舉例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7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TW"/>
              <a:t>from collections import deque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TW"/>
              <a:t>graph = { 'A': ['B', 'C'], 'B': ['D', 'E'], 'C': [ ], 'D': [ ], 'E': [ ] 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def  bfs(start):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queue = deque([start]) </a:t>
            </a:r>
            <a:r>
              <a:rPr lang="zh-TW">
                <a:solidFill>
                  <a:srgbClr val="0000FF"/>
                </a:solidFill>
              </a:rPr>
              <a:t> # 建立一個只有start的queue佇列</a:t>
            </a:r>
            <a:endParaRPr>
              <a:solidFill>
                <a:srgbClr val="0000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visited = set( ) </a:t>
            </a:r>
            <a:r>
              <a:rPr lang="zh-TW">
                <a:solidFill>
                  <a:srgbClr val="0000FF"/>
                </a:solidFill>
              </a:rPr>
              <a:t> #紀錄已訪問過的元素</a:t>
            </a:r>
            <a:endParaRPr>
              <a:solidFill>
                <a:srgbClr val="0000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while queue: </a:t>
            </a:r>
            <a:endParaRPr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node = queue.popleft( )</a:t>
            </a:r>
            <a:endParaRPr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if node not in visited:</a:t>
            </a:r>
            <a:endParaRPr/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print(node)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visited.add(node) </a:t>
            </a:r>
            <a:r>
              <a:rPr lang="zh-TW">
                <a:solidFill>
                  <a:srgbClr val="0000FF"/>
                </a:solidFill>
              </a:rPr>
              <a:t> #在visited中記錄n</a:t>
            </a:r>
            <a:r>
              <a:rPr lang="zh-TW">
                <a:solidFill>
                  <a:srgbClr val="0000FF"/>
                </a:solidFill>
              </a:rPr>
              <a:t>ode</a:t>
            </a:r>
            <a:endParaRPr>
              <a:solidFill>
                <a:srgbClr val="0000FF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queue.extend(graph[node])  </a:t>
            </a:r>
            <a:r>
              <a:rPr lang="zh-TW">
                <a:solidFill>
                  <a:srgbClr val="0000FF"/>
                </a:solidFill>
              </a:rPr>
              <a:t>#在queue中放此枝節下的元素</a:t>
            </a:r>
            <a:endParaRPr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bfs('A')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372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舉例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853100"/>
            <a:ext cx="8520600" cy="40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1587" y="1042449"/>
            <a:ext cx="6800826" cy="366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隨堂練習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4452900" cy="37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b967.4.</a:t>
            </a:r>
            <a:r>
              <a:rPr lang="zh-TW"/>
              <a:t>血緣關係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333333"/>
                </a:solidFill>
                <a:highlight>
                  <a:srgbClr val="FFFFFF"/>
                </a:highlight>
              </a:rPr>
              <a:t>小宇有一個大家族。有一天，他發現記錄整個家族成員和成員間血緣關係的家族族譜。</a:t>
            </a:r>
            <a:br>
              <a:rPr lang="zh-TW" sz="1300">
                <a:solidFill>
                  <a:srgbClr val="333333"/>
                </a:solidFill>
                <a:highlight>
                  <a:srgbClr val="FFFFFF"/>
                </a:highlight>
              </a:rPr>
            </a:br>
            <a:r>
              <a:rPr lang="zh-TW" sz="1300">
                <a:solidFill>
                  <a:srgbClr val="333333"/>
                </a:solidFill>
                <a:highlight>
                  <a:srgbClr val="FFFFFF"/>
                </a:highlight>
              </a:rPr>
              <a:t>小宇對於最遠的血緣關係 (我們稱之為"血緣距離") 有多遠感到很好奇。</a:t>
            </a:r>
            <a:endParaRPr sz="13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300">
                <a:solidFill>
                  <a:srgbClr val="333333"/>
                </a:solidFill>
                <a:highlight>
                  <a:srgbClr val="FFFFFF"/>
                </a:highlight>
              </a:rPr>
              <a:t>右圖為家族的關係圖。</a:t>
            </a:r>
            <a:br>
              <a:rPr lang="zh-TW" sz="1300">
                <a:solidFill>
                  <a:srgbClr val="333333"/>
                </a:solidFill>
                <a:highlight>
                  <a:srgbClr val="FFFFFF"/>
                </a:highlight>
              </a:rPr>
            </a:br>
            <a:r>
              <a:rPr lang="zh-TW" sz="1300">
                <a:solidFill>
                  <a:srgbClr val="333333"/>
                </a:solidFill>
                <a:highlight>
                  <a:srgbClr val="FFFFFF"/>
                </a:highlight>
              </a:rPr>
              <a:t> 0 是 7 的孩子， 1、2 和 3 是 0 的孩子， 4 和 5 是 1 的孩子， 6 是 3 的孩子。</a:t>
            </a:r>
            <a:br>
              <a:rPr lang="zh-TW" sz="1300">
                <a:solidFill>
                  <a:srgbClr val="333333"/>
                </a:solidFill>
                <a:highlight>
                  <a:srgbClr val="FFFFFF"/>
                </a:highlight>
              </a:rPr>
            </a:br>
            <a:r>
              <a:rPr lang="zh-TW" sz="1300">
                <a:solidFill>
                  <a:srgbClr val="333333"/>
                </a:solidFill>
                <a:highlight>
                  <a:srgbClr val="FFFFFF"/>
                </a:highlight>
              </a:rPr>
              <a:t>我們可以輕易的發現最遠的親戚關係為 4(或 5) 和 6 ，他們的"血緣距離"是 4 (4→1→0→3→6)。</a:t>
            </a:r>
            <a:endParaRPr sz="13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300">
                <a:solidFill>
                  <a:srgbClr val="333333"/>
                </a:solidFill>
                <a:highlight>
                  <a:srgbClr val="FFFFFF"/>
                </a:highlight>
              </a:rPr>
              <a:t>給予任一家族的關係圖，請找出最遠的"血緣距離"。</a:t>
            </a:r>
            <a:endParaRPr sz="13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300">
                <a:solidFill>
                  <a:srgbClr val="333333"/>
                </a:solidFill>
                <a:highlight>
                  <a:srgbClr val="FFFFFF"/>
                </a:highlight>
              </a:rPr>
              <a:t>你可以假設只有一個人是整個家族成員的祖先，而且沒有兩個成員有同樣的小孩。</a:t>
            </a:r>
            <a:endParaRPr sz="1300"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4600" y="1017725"/>
            <a:ext cx="4074599" cy="3365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隨堂練習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4572600" cy="17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/>
              <a:t>輸入說明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rgbClr val="333333"/>
                </a:solidFill>
                <a:highlight>
                  <a:srgbClr val="FFFFFF"/>
                </a:highlight>
              </a:rPr>
              <a:t>第一行為一個正整數 N 代表成員的個數，每人以 0~N-1 之間唯一的編號代表。</a:t>
            </a:r>
            <a:endParaRPr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400">
                <a:solidFill>
                  <a:srgbClr val="333333"/>
                </a:solidFill>
                <a:highlight>
                  <a:srgbClr val="FFFFFF"/>
                </a:highlight>
              </a:rPr>
              <a:t>接著的 N-1 行，每行有兩個以一個空白隔開的整數 a 與 b (0 ≤ a, b ≤ N-1)，代表 b 是 a 的孩子。</a:t>
            </a:r>
            <a:endParaRPr sz="1400"/>
          </a:p>
        </p:txBody>
      </p:sp>
      <p:sp>
        <p:nvSpPr>
          <p:cNvPr id="101" name="Google Shape;101;p20"/>
          <p:cNvSpPr txBox="1"/>
          <p:nvPr/>
        </p:nvSpPr>
        <p:spPr>
          <a:xfrm>
            <a:off x="5210175" y="1403975"/>
            <a:ext cx="395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2" name="Google Shape;102;p20"/>
          <p:cNvSpPr txBox="1"/>
          <p:nvPr/>
        </p:nvSpPr>
        <p:spPr>
          <a:xfrm>
            <a:off x="4884300" y="1104850"/>
            <a:ext cx="4278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輸出說明: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333333"/>
                </a:solidFill>
                <a:highlight>
                  <a:srgbClr val="FFFFFF"/>
                </a:highlight>
              </a:rPr>
              <a:t>輸出一行，輸出最遠"血緣距離"的答案。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102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解答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4411975" y="663075"/>
            <a:ext cx="4420200" cy="43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先找到其中一個端點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再找離此端點最遠的點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兩點距離即為最遠的</a:t>
            </a:r>
            <a:r>
              <a:rPr lang="zh-TW"/>
              <a:t>「血緣距離」</a:t>
            </a: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 rotWithShape="1">
          <a:blip r:embed="rId3">
            <a:alphaModFix/>
          </a:blip>
          <a:srcRect b="-3896" l="0" r="0" t="0"/>
          <a:stretch/>
        </p:blipFill>
        <p:spPr>
          <a:xfrm>
            <a:off x="547125" y="751025"/>
            <a:ext cx="3455274" cy="4492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ctrTitle"/>
          </p:nvPr>
        </p:nvSpPr>
        <p:spPr>
          <a:xfrm>
            <a:off x="311700" y="744575"/>
            <a:ext cx="8520600" cy="168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謝謝大家</a:t>
            </a:r>
            <a:endParaRPr/>
          </a:p>
        </p:txBody>
      </p:sp>
      <p:sp>
        <p:nvSpPr>
          <p:cNvPr id="115" name="Google Shape;115;p22"/>
          <p:cNvSpPr txBox="1"/>
          <p:nvPr>
            <p:ph idx="1" type="subTitle"/>
          </p:nvPr>
        </p:nvSpPr>
        <p:spPr>
          <a:xfrm>
            <a:off x="311700" y="2432675"/>
            <a:ext cx="8520600" cy="25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/>
              <a:t>非常感謝大家願意聽我分享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/>
              <a:t>這是我第一次做程式教學簡報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/>
              <a:t>如有任何不足之處或覺得能補充的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/>
              <a:t>歡迎大家提出，謝謝大家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